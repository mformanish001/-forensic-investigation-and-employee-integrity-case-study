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FINAL INVESTIGATION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Marketing procurement integrity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4F8FB"/>
                </a:solidFill>
                <a:latin typeface="Aptos"/>
              </a:defRPr>
            </a:pPr>
            <a:r>
              <a:t>Silverline Consumer Products Ltd.  ×  BlueArc Media Solutions Pvt Ltd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37560"/>
            <a:ext cx="10789920" cy="123444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CCBD"/>
                </a:solidFill>
                <a:latin typeface="Aptos"/>
              </a:defRPr>
            </a:pPr>
            <a:r>
              <a:t>Complaint received  26 Oct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4F8FB"/>
                </a:solidFill>
                <a:latin typeface="Aptos"/>
              </a:defRPr>
            </a:pPr>
            <a:r>
              <a:t>Prepared by  Manish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9B74F"/>
                </a:solidFill>
                <a:latin typeface="Aptos"/>
              </a:defRPr>
            </a:pPr>
            <a:r>
              <a:t>Preliminary assessment • No fraud or misconduct established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Case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303520" cy="338328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1" y="221284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217627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The allegation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788920"/>
            <a:ext cx="4709159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Anonymous ethics hotline complaint alleges preferential supplier selection, billing for incomplete advertising work, and a possible undisclosed relationship with the procurement lead.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5349240" cy="338328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36792" y="221284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1762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Investigation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4754879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Review complaint, procurement documents, billing and acceptance records, and preliminary employee background indicators. All evidence is simulated.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Four-stage investigation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5285232" cy="17190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854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3CCB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1214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8FB"/>
                </a:solidFill>
                <a:latin typeface="Aptos"/>
              </a:defRPr>
            </a:pPr>
            <a:r>
              <a:t>Complaint deconstruction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69748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Identify allegations and investigative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38528"/>
            <a:ext cx="5285232" cy="17190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1854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3CCB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1214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8FB"/>
                </a:solidFill>
                <a:latin typeface="Aptos"/>
              </a:defRPr>
            </a:pPr>
            <a:r>
              <a:t>Document reconciliation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69748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Compare bids, PO, invoice, acceptance and credit note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95344"/>
            <a:ext cx="5285232" cy="17190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414223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3CCB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07822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8FB"/>
                </a:solidFill>
                <a:latin typeface="Aptos"/>
              </a:defRPr>
            </a:pPr>
            <a:r>
              <a:t>Employee background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654296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Assess red flags with privacy safeguards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95344"/>
            <a:ext cx="5285232" cy="17190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414223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3CCB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407822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8FB"/>
                </a:solidFill>
                <a:latin typeface="Aptos"/>
              </a:defRPr>
            </a:pPr>
            <a:r>
              <a:t>Preliminary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4654296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Separate findings from unresolved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Supplier selection: review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257800" cy="310896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1" y="216712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21305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BlueArc winning bid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743200"/>
            <a:ext cx="466344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₹48,00,000  •  Selected supplier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5394960" cy="310896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91072" y="216712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3055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PixelNest competing bid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48006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₹42,00,000  •  ₹6,00,000 lower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9B74F"/>
                </a:solidFill>
                <a:latin typeface="Aptos"/>
              </a:defRPr>
            </a:pPr>
            <a:r>
              <a:t>Observation: the scorecard lacks written justification for the higher bid. A higher price alone does not prove favoritism.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Billing and delivery reconciliation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3456432" cy="150876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1945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3CCBD"/>
                </a:solidFill>
                <a:latin typeface="Aptos"/>
              </a:defRPr>
            </a:pPr>
            <a:r>
              <a:t>₹48L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Original invoice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93392"/>
            <a:ext cx="3456432" cy="150876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1945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3CCBD"/>
                </a:solidFill>
                <a:latin typeface="Aptos"/>
              </a:defRPr>
            </a:pPr>
            <a:r>
              <a:t>₹4L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88036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Credit note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93392"/>
            <a:ext cx="3456432" cy="1508760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21945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3CCBD"/>
                </a:solidFill>
                <a:latin typeface="Aptos"/>
              </a:defRPr>
            </a:pPr>
            <a:r>
              <a:t>₹44L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88036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Net billed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13048"/>
            <a:ext cx="10881360" cy="170078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1" y="4014215"/>
            <a:ext cx="50292" cy="320040"/>
          </a:xfrm>
          <a:prstGeom prst="roundRect">
            <a:avLst/>
          </a:prstGeom>
          <a:solidFill>
            <a:srgbClr val="F9B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19" y="3977639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Potentially unsupported charge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4590288"/>
            <a:ext cx="10287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Video production billed ₹12,00,000; acceptance pending; ₹4,00,000 credit issued → ₹8,00,000 remains subject to delivery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Employee wealth: indicators, not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167335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1" y="212140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208483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Vehicle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697480"/>
            <a:ext cx="4709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₹32,00,000 vehicle declared; financing details pending.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349240" cy="167335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36792" y="212140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Monthly 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75487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₹95,000 lease versus ₹1,65,000 declared salary; household resources unknown.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5303520" cy="167335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1" y="404164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19" y="400507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Unidentified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617720"/>
            <a:ext cx="4709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₹6,50,000 in illustrative financial summary; source not recorded.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40480"/>
            <a:ext cx="5349240" cy="167335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36792" y="4041648"/>
            <a:ext cx="50292" cy="320040"/>
          </a:xfrm>
          <a:prstGeom prst="roundRect">
            <a:avLst/>
          </a:prstGeom>
          <a:solidFill>
            <a:srgbClr val="F9B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0050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No proven supplier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17720"/>
            <a:ext cx="475487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No evidenced transfer from BlueArc to the employee; no established kickback.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Preliminary findings and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0844784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48255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Bid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48255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Incomplete justification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4825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B74F"/>
                </a:solidFill>
                <a:latin typeface="Aptos"/>
              </a:defRPr>
            </a:pPr>
            <a:r>
              <a:t>Requires explanation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62072"/>
            <a:ext cx="10844784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0358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Video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358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₹8L net amount potentially unsupported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0358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B74F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49624"/>
            <a:ext cx="10844784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Employee finances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0233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Unexplained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023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B74F"/>
                </a:solidFill>
                <a:latin typeface="Aptos"/>
              </a:defRPr>
            </a:pPr>
            <a:r>
              <a:t>Unverified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37176"/>
            <a:ext cx="10844784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010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Vendor 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010912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Allegation without corroboration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010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CCBD"/>
                </a:solidFill>
                <a:latin typeface="Aptos"/>
              </a:defRPr>
            </a:pPr>
            <a:r>
              <a:t>Not substantiated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0835640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4825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CCB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659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Validate procurement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975103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Obtain bid evaluation, approval authority and selection rationale.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62072"/>
            <a:ext cx="10835640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035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CCB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5351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Verify delivery and billing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962656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Secure campaign platform records; reconcile credit and disputed ₹8L.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49624"/>
            <a:ext cx="10835640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023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CCB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41063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Protect due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3950208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Seek authorized explanations and evidence with HR/legal oversight.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37176"/>
            <a:ext cx="10835640" cy="832104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5010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CCB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92861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F8FB"/>
                </a:solidFill>
                <a:latin typeface="Aptos"/>
              </a:defRPr>
            </a:pPr>
            <a:r>
              <a:t>Strengthen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493776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7B8C9"/>
                </a:solidFill>
                <a:latin typeface="Aptos"/>
              </a:defRPr>
            </a:pPr>
            <a:r>
              <a:t>Document independent vendor selection and three-way matching.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502920"/>
            <a:ext cx="64008" cy="41148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CCBD"/>
                </a:solidFill>
                <a:latin typeface="Aptos"/>
              </a:defRPr>
            </a:pPr>
            <a:r>
              <a:t>FORENSIC360  /  CASE SILVERLINE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8FB"/>
                </a:solidFill>
                <a:latin typeface="Aptos"/>
              </a:defRPr>
            </a:pPr>
            <a:r>
              <a:t>Conclusion &amp; case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510528"/>
            <a:ext cx="10881360" cy="10972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7B8C9"/>
                </a:solidFill>
                <a:latin typeface="Aptos"/>
              </a:defRPr>
            </a:pPr>
            <a:r>
              <a:t>INDEPENDENT FICTIONAL CASE STUDY  •  MANISH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7B8C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10844784" cy="1874519"/>
          </a:xfrm>
          <a:prstGeom prst="roundRect">
            <a:avLst/>
          </a:prstGeom>
          <a:solidFill>
            <a:srgbClr val="16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2121408"/>
            <a:ext cx="50292" cy="320040"/>
          </a:xfrm>
          <a:prstGeom prst="roundRect">
            <a:avLst/>
          </a:prstGeom>
          <a:solidFill>
            <a:srgbClr val="23C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084832"/>
            <a:ext cx="103418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97480"/>
            <a:ext cx="10250424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7B8C9"/>
                </a:solidFill>
                <a:latin typeface="Aptos"/>
              </a:defRPr>
            </a:pPr>
            <a:r>
              <a:t>The review identified documentation gaps and a potentially unsupported ₹8,00,000 charge. Further corroboration is required; wrongdoing has not been established.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504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MANISH KUMAR</cp:lastModifiedBy>
  <cp:revision>2</cp:revision>
  <dcterms:created xsi:type="dcterms:W3CDTF">2013-01-27T09:14:16Z</dcterms:created>
  <dcterms:modified xsi:type="dcterms:W3CDTF">2026-10-27T17:47:21Z</dcterms:modified>
  <cp:category/>
</cp:coreProperties>
</file>